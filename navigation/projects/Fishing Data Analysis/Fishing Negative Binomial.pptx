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4" r:id="rId9"/>
    <p:sldId id="265" r:id="rId10"/>
    <p:sldId id="270" r:id="rId11"/>
    <p:sldId id="266" r:id="rId12"/>
    <p:sldId id="269" r:id="rId13"/>
    <p:sldId id="271" r:id="rId14"/>
    <p:sldId id="267" r:id="rId15"/>
    <p:sldId id="268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C9154-8AFD-D3A0-A23C-9DCE80842C2A}" v="3277" dt="2025-02-12T14:56:38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4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7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8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1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2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3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225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9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0" r:id="rId6"/>
    <p:sldLayoutId id="2147483746" r:id="rId7"/>
    <p:sldLayoutId id="2147483747" r:id="rId8"/>
    <p:sldLayoutId id="2147483748" r:id="rId9"/>
    <p:sldLayoutId id="2147483749" r:id="rId10"/>
    <p:sldLayoutId id="214748375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lyfishyellowstone.blogspot.com/2010/07/best-laid-plans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rdocumentation.org/packages/pscl/versions/1.5.9/topics/zeroinfl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rdocumentation.org/packages/pscl/versions/1.5.9/topics/zeroinfl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erson fishing in a river&#10;&#10;AI-generated content may be incorrect.">
            <a:extLst>
              <a:ext uri="{FF2B5EF4-FFF2-40B4-BE49-F238E27FC236}">
                <a16:creationId xmlns:a16="http://schemas.microsoft.com/office/drawing/2014/main" id="{432E6396-E0FF-1EBA-4B42-14ECF8631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9091" t="9045" b="2367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US" sz="6000"/>
              <a:t>Fishing Data Consulting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i="0">
                <a:latin typeface="Calibri"/>
                <a:ea typeface="Calibri"/>
                <a:cs typeface="Calibri"/>
              </a:rPr>
              <a:t>STAT 649</a:t>
            </a:r>
          </a:p>
          <a:p>
            <a:r>
              <a:rPr lang="en-US" i="0">
                <a:latin typeface="Calibri"/>
                <a:ea typeface="Calibri"/>
                <a:cs typeface="Calibri"/>
              </a:rPr>
              <a:t>Minjee Kim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18FD-211D-0383-BDC8-944C641F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AA1EA6-83BD-C059-11A1-ECB050A16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93" t="4422" r="219" b="2041"/>
          <a:stretch/>
        </p:blipFill>
        <p:spPr>
          <a:xfrm>
            <a:off x="439996" y="2194969"/>
            <a:ext cx="5380129" cy="332269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A9F09C-E2C2-E01E-3509-C3E4FC820615}"/>
              </a:ext>
            </a:extLst>
          </p:cNvPr>
          <p:cNvSpPr txBox="1"/>
          <p:nvPr/>
        </p:nvSpPr>
        <p:spPr>
          <a:xfrm>
            <a:off x="6362007" y="554181"/>
            <a:ext cx="486664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The dataset consists of records at a state park, where visitors reported the number of fish they caught.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u="sng" dirty="0"/>
              <a:t>Objective</a:t>
            </a:r>
            <a:r>
              <a:rPr lang="en-US" sz="2000" dirty="0"/>
              <a:t>: To predict the number of fish </a:t>
            </a:r>
            <a:r>
              <a:rPr lang="en-US" sz="2000"/>
              <a:t>caught by (each group) of fishermen.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Predictors: </a:t>
            </a:r>
          </a:p>
          <a:p>
            <a:pPr marL="342900" indent="-342900">
              <a:buFont typeface="Arial"/>
              <a:buChar char="•"/>
            </a:pPr>
            <a:r>
              <a:rPr lang="en-US" sz="2000" b="1"/>
              <a:t>Livebait: </a:t>
            </a:r>
            <a:r>
              <a:rPr lang="en-US" sz="2000"/>
              <a:t>whether livebait was used</a:t>
            </a:r>
          </a:p>
          <a:p>
            <a:pPr marL="342900" indent="-342900">
              <a:buFont typeface="Arial"/>
              <a:buChar char="•"/>
            </a:pPr>
            <a:r>
              <a:rPr lang="en-US" sz="2000" b="1"/>
              <a:t>Camper: </a:t>
            </a:r>
            <a:r>
              <a:rPr lang="en-US" sz="2000"/>
              <a:t>whether they camped </a:t>
            </a: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b="1"/>
              <a:t>Persons:</a:t>
            </a:r>
            <a:r>
              <a:rPr lang="en-US" sz="2000"/>
              <a:t> number of people in group </a:t>
            </a: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b="1"/>
              <a:t>Child: </a:t>
            </a:r>
            <a:r>
              <a:rPr lang="en-US" sz="2000"/>
              <a:t>number of children in group </a:t>
            </a: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r>
              <a:rPr lang="en-US" sz="2000"/>
              <a:t>Response: </a:t>
            </a:r>
            <a:endParaRPr lang="en-US" sz="2000" dirty="0"/>
          </a:p>
          <a:p>
            <a:pPr marL="342900" indent="-342900">
              <a:buFont typeface="Arial"/>
              <a:buChar char="•"/>
            </a:pPr>
            <a:r>
              <a:rPr lang="en-US" sz="2000" b="1"/>
              <a:t>Count:</a:t>
            </a:r>
            <a:r>
              <a:rPr lang="en-US" sz="2000"/>
              <a:t> number of fish caught 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684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1065-DAFC-9E4E-1BD8-8A2EF95A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pic>
        <p:nvPicPr>
          <p:cNvPr id="4" name="Content Placeholder 3" descr="A graph of a number of fish caught&#10;&#10;AI-generated content may be incorrect.">
            <a:extLst>
              <a:ext uri="{FF2B5EF4-FFF2-40B4-BE49-F238E27FC236}">
                <a16:creationId xmlns:a16="http://schemas.microsoft.com/office/drawing/2014/main" id="{AB5D25F1-D317-AD7D-DB67-654186ABD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92" b="583"/>
          <a:stretch/>
        </p:blipFill>
        <p:spPr>
          <a:xfrm>
            <a:off x="516975" y="2121188"/>
            <a:ext cx="5313279" cy="38486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8FA98D-4168-4DF4-7F01-3682380C6746}"/>
              </a:ext>
            </a:extLst>
          </p:cNvPr>
          <p:cNvSpPr txBox="1"/>
          <p:nvPr/>
        </p:nvSpPr>
        <p:spPr>
          <a:xfrm>
            <a:off x="6362007" y="554181"/>
            <a:ext cx="5314163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We do not know whether each group visited the park to fish.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/>
              <a:t>Overdispersion</a:t>
            </a:r>
            <a:endParaRPr lang="en-US" sz="2000" dirty="0"/>
          </a:p>
          <a:p>
            <a:pPr marL="914400" lvl="1" indent="-457200">
              <a:buFont typeface="Courier New"/>
              <a:buChar char="o"/>
            </a:pPr>
            <a:r>
              <a:rPr lang="en-US" sz="2000" b="1"/>
              <a:t>Overinflated zero </a:t>
            </a:r>
          </a:p>
          <a:p>
            <a:pPr marL="457200" lvl="1"/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If a group used livebait, it is a definitive sign of fishing, even if the count is zero. </a:t>
            </a:r>
          </a:p>
          <a:p>
            <a:pPr lvl="1"/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Count of children is nested in count of persons. </a:t>
            </a:r>
            <a:endParaRPr lang="en-US" sz="2000" dirty="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CA0EBBB1-DE5E-982A-6993-3E4307DFAA75}"/>
              </a:ext>
            </a:extLst>
          </p:cNvPr>
          <p:cNvSpPr/>
          <p:nvPr/>
        </p:nvSpPr>
        <p:spPr>
          <a:xfrm>
            <a:off x="6366640" y="1605453"/>
            <a:ext cx="462455" cy="40990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69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052E6-EF64-2DCA-82A2-EA72A6517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9444-7DE8-018A-5618-B8922AFC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86884-A4FA-8C85-405C-F6F5DE58B4BE}"/>
              </a:ext>
            </a:extLst>
          </p:cNvPr>
          <p:cNvSpPr txBox="1"/>
          <p:nvPr/>
        </p:nvSpPr>
        <p:spPr>
          <a:xfrm>
            <a:off x="6362007" y="554181"/>
            <a:ext cx="5314163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We do not know whether each group visited the park to fish.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/>
              <a:t>Overdispersion</a:t>
            </a:r>
            <a:endParaRPr lang="en-US" sz="2000" dirty="0"/>
          </a:p>
          <a:p>
            <a:pPr marL="914400" lvl="1" indent="-457200">
              <a:buFont typeface="Courier New"/>
              <a:buChar char="o"/>
            </a:pPr>
            <a:r>
              <a:rPr lang="en-US" sz="2000" b="1"/>
              <a:t>Overinflated zero </a:t>
            </a:r>
          </a:p>
          <a:p>
            <a:pPr marL="457200" lvl="1"/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If a group used livebait, it is a definitive sign of fishing, even if the count is zero.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/>
              <a:t>Strong correlation between true state of going fishing and live bait use</a:t>
            </a:r>
            <a:endParaRPr lang="en-US" sz="2000" dirty="0"/>
          </a:p>
          <a:p>
            <a:pPr marL="457200" lvl="1"/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Count of children is nested in count of persons. </a:t>
            </a:r>
            <a:endParaRPr lang="en-US" sz="2000" dirty="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6E4A92E8-DCC0-A617-6F66-34B795E4331B}"/>
              </a:ext>
            </a:extLst>
          </p:cNvPr>
          <p:cNvSpPr/>
          <p:nvPr/>
        </p:nvSpPr>
        <p:spPr>
          <a:xfrm>
            <a:off x="6251818" y="3010492"/>
            <a:ext cx="462455" cy="40990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198CF3-B524-45AB-59FA-F42DC03F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33" y="2121775"/>
            <a:ext cx="4781702" cy="392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4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624F-9771-E0A9-0F8B-5A2B6180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285E-CD0E-56B5-EC8A-64643F44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7905B-4499-32A6-78F0-6306271B0F6A}"/>
              </a:ext>
            </a:extLst>
          </p:cNvPr>
          <p:cNvSpPr txBox="1"/>
          <p:nvPr/>
        </p:nvSpPr>
        <p:spPr>
          <a:xfrm>
            <a:off x="6362007" y="554181"/>
            <a:ext cx="5314163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We do not know whether each group visited the park to fish.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/>
              <a:t>Overdispersion</a:t>
            </a:r>
            <a:endParaRPr lang="en-US" sz="2000" dirty="0"/>
          </a:p>
          <a:p>
            <a:pPr marL="914400" lvl="1" indent="-457200">
              <a:buFont typeface="Courier New"/>
              <a:buChar char="o"/>
            </a:pPr>
            <a:r>
              <a:rPr lang="en-US" sz="2000" b="1"/>
              <a:t>Overinflated zero </a:t>
            </a:r>
          </a:p>
          <a:p>
            <a:pPr marL="457200" lvl="1"/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If a group used livebait, it is a definitive sign of fishing, even if the count is zero. </a:t>
            </a:r>
          </a:p>
          <a:p>
            <a:pPr lvl="1"/>
            <a:endParaRPr lang="en-US" sz="2000" dirty="0"/>
          </a:p>
          <a:p>
            <a:pPr marL="457200" indent="-457200">
              <a:buAutoNum type="arabicPeriod"/>
            </a:pPr>
            <a:r>
              <a:rPr lang="en-US" sz="2000"/>
              <a:t>Count of children is nested in count of persons. 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/>
              <a:t>Correlated Variables</a:t>
            </a:r>
            <a:endParaRPr lang="en-US" sz="2000" dirty="0"/>
          </a:p>
        </p:txBody>
      </p:sp>
      <p:pic>
        <p:nvPicPr>
          <p:cNvPr id="3" name="Picture 2" descr="A graph of different groups&#10;&#10;AI-generated content may be incorrect.">
            <a:extLst>
              <a:ext uri="{FF2B5EF4-FFF2-40B4-BE49-F238E27FC236}">
                <a16:creationId xmlns:a16="http://schemas.microsoft.com/office/drawing/2014/main" id="{A22D0063-7982-1D85-3969-12AFFE49A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96" y="1999301"/>
            <a:ext cx="5611076" cy="4427958"/>
          </a:xfrm>
          <a:prstGeom prst="rect">
            <a:avLst/>
          </a:prstGeom>
        </p:spPr>
      </p:pic>
      <p:sp>
        <p:nvSpPr>
          <p:cNvPr id="10" name="Star: 5 Points 9">
            <a:extLst>
              <a:ext uri="{FF2B5EF4-FFF2-40B4-BE49-F238E27FC236}">
                <a16:creationId xmlns:a16="http://schemas.microsoft.com/office/drawing/2014/main" id="{E57105E2-6901-9261-2F21-A8E0919DC8A2}"/>
              </a:ext>
            </a:extLst>
          </p:cNvPr>
          <p:cNvSpPr/>
          <p:nvPr/>
        </p:nvSpPr>
        <p:spPr>
          <a:xfrm>
            <a:off x="6293571" y="3924208"/>
            <a:ext cx="462455" cy="40990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B0AF-6F49-D536-371D-C4496436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4FF4-2E3C-233F-84D4-928819A1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Possible Models to Conside</a:t>
            </a:r>
            <a:r>
              <a:rPr lang="en-US"/>
              <a:t>r: </a:t>
            </a:r>
          </a:p>
          <a:p>
            <a:pPr marL="457200" indent="-457200">
              <a:buAutoNum type="arabicPeriod"/>
            </a:pPr>
            <a:r>
              <a:rPr lang="en-US" b="1"/>
              <a:t>Poisson </a:t>
            </a:r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A4B9868-7256-398E-4786-7E68417CD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26"/>
          <a:stretch/>
        </p:blipFill>
        <p:spPr>
          <a:xfrm>
            <a:off x="7089241" y="1914221"/>
            <a:ext cx="2963158" cy="66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D1E5C2-8852-0C39-DEC5-036935DD5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40" y="2904098"/>
            <a:ext cx="2095500" cy="361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4B571-D80E-42D5-B3C4-59C1E489916A}"/>
              </a:ext>
            </a:extLst>
          </p:cNvPr>
          <p:cNvSpPr txBox="1"/>
          <p:nvPr/>
        </p:nvSpPr>
        <p:spPr>
          <a:xfrm>
            <a:off x="6921062" y="3628696"/>
            <a:ext cx="38257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Sample mean: 3.296</a:t>
            </a:r>
            <a:endParaRPr lang="en-US" dirty="0"/>
          </a:p>
          <a:p>
            <a:r>
              <a:rPr lang="en-US"/>
              <a:t>Sample variance: 135.38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7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BD25-5524-84C6-2F35-F51BE8D4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65BF-EF6A-6B18-EE6D-2A0CDC60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Formulation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F896B2-3D74-B622-74B2-6864914FC4AF}"/>
              </a:ext>
            </a:extLst>
          </p:cNvPr>
          <p:cNvSpPr txBox="1">
            <a:spLocks/>
          </p:cNvSpPr>
          <p:nvPr/>
        </p:nvSpPr>
        <p:spPr>
          <a:xfrm>
            <a:off x="6814568" y="11216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Possible Models to Conside</a:t>
            </a:r>
            <a:r>
              <a:rPr lang="en-US"/>
              <a:t>r: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/>
              <a:t>Poisson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b="1"/>
              <a:t>Negative Binomial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FB2D8D-2112-2AC2-0CB7-2D37C0972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01" y="2756954"/>
            <a:ext cx="4943475" cy="66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3D8642-2266-E570-F3EA-7A571B554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027" y="4417424"/>
            <a:ext cx="6038850" cy="13239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801892-8518-89A5-7464-44FF1F9396FE}"/>
              </a:ext>
            </a:extLst>
          </p:cNvPr>
          <p:cNvSpPr txBox="1"/>
          <p:nvPr/>
        </p:nvSpPr>
        <p:spPr>
          <a:xfrm>
            <a:off x="5644055" y="3946635"/>
            <a:ext cx="3497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Relationship with </a:t>
            </a:r>
            <a:r>
              <a:rPr lang="en-US">
                <a:solidFill>
                  <a:srgbClr val="FF0000"/>
                </a:solidFill>
              </a:rPr>
              <a:t>Poisson: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8FB9A1-18FF-22C4-476A-438A100218A9}"/>
              </a:ext>
            </a:extLst>
          </p:cNvPr>
          <p:cNvSpPr txBox="1"/>
          <p:nvPr/>
        </p:nvSpPr>
        <p:spPr>
          <a:xfrm>
            <a:off x="1271751" y="3421116"/>
            <a:ext cx="3652344" cy="923330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But Negative Binomial does not incorporate the latent variable of whether each </a:t>
            </a:r>
            <a:r>
              <a:rPr lang="en-US"/>
              <a:t>group went fishing.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0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C886-F315-B17E-794E-F8BA0BA1D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2EFE-B38F-C762-4D55-546501CB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Formulation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896B51-7F67-7580-6729-9A59900420D8}"/>
              </a:ext>
            </a:extLst>
          </p:cNvPr>
          <p:cNvSpPr txBox="1">
            <a:spLocks/>
          </p:cNvSpPr>
          <p:nvPr/>
        </p:nvSpPr>
        <p:spPr>
          <a:xfrm>
            <a:off x="6814568" y="11216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27432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Possible Models to Conside</a:t>
            </a:r>
            <a:r>
              <a:rPr lang="en-US"/>
              <a:t>r: 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/>
              <a:t>Poisson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/>
              <a:t>Negative Binomial</a:t>
            </a:r>
          </a:p>
          <a:p>
            <a:pPr marL="457200" indent="-457200">
              <a:buAutoNum type="arabicPeriod"/>
            </a:pPr>
            <a:r>
              <a:rPr lang="en-US" b="1"/>
              <a:t>Zero-Inflated Negative Binomial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A3B6C4-879C-AA44-DABA-EAA6C0E8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44" t="-627" r="609" b="1254"/>
          <a:stretch/>
        </p:blipFill>
        <p:spPr>
          <a:xfrm>
            <a:off x="2060380" y="3146351"/>
            <a:ext cx="8544082" cy="330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386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4375-7FDA-9305-0762-466D54C7B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1: Simple NegBin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00F327-3309-7451-F2C2-3432A516D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359" y="1709183"/>
            <a:ext cx="8549346" cy="665346"/>
          </a:xfrm>
        </p:spPr>
        <p:txBody>
          <a:bodyPr>
            <a:normAutofit/>
          </a:bodyPr>
          <a:lstStyle/>
          <a:p>
            <a:r>
              <a:rPr lang="en-US"/>
              <a:t>MASS::glm.nb( count ~ livebait + camper + persons + child)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42AC9-AE3E-F7BE-68FB-91ADEF399714}"/>
              </a:ext>
            </a:extLst>
          </p:cNvPr>
          <p:cNvSpPr txBox="1"/>
          <p:nvPr/>
        </p:nvSpPr>
        <p:spPr>
          <a:xfrm>
            <a:off x="7126431" y="2727935"/>
            <a:ext cx="456232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Use of live bait increased the number of caught fish by exp(1.532) = 4.627 times.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Groups that did camp had higher counts of caught fish.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Bigger groups caught more fish than smaller groups.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Groups with more children caught less fish.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Theta = </a:t>
            </a:r>
            <a:r>
              <a:rPr lang="en-US">
                <a:ea typeface="+mn-lt"/>
                <a:cs typeface="+mn-lt"/>
              </a:rPr>
              <a:t>0.515 (significant overdispersion)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87C46-F41E-75F6-0C21-915F00D00837}"/>
              </a:ext>
            </a:extLst>
          </p:cNvPr>
          <p:cNvSpPr txBox="1"/>
          <p:nvPr/>
        </p:nvSpPr>
        <p:spPr>
          <a:xfrm>
            <a:off x="8961152" y="1303699"/>
            <a:ext cx="23765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u="sng">
                <a:solidFill>
                  <a:srgbClr val="FF0000"/>
                </a:solidFill>
              </a:rPr>
              <a:t>**Reminder</a:t>
            </a:r>
            <a:r>
              <a:rPr lang="en-US">
                <a:solidFill>
                  <a:srgbClr val="FF0000"/>
                </a:solidFill>
              </a:rPr>
              <a:t>: we use log link, meaning we estimate log(count)</a:t>
            </a:r>
          </a:p>
        </p:txBody>
      </p:sp>
      <p:pic>
        <p:nvPicPr>
          <p:cNvPr id="3" name="Content Placeholder 2" descr="A screenshot of a screen&#10;&#10;AI-generated content may be incorrect.">
            <a:extLst>
              <a:ext uri="{FF2B5EF4-FFF2-40B4-BE49-F238E27FC236}">
                <a16:creationId xmlns:a16="http://schemas.microsoft.com/office/drawing/2014/main" id="{27DC786D-DD4D-86AB-A052-70169A8AF27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718188" y="2808888"/>
            <a:ext cx="6096000" cy="2562242"/>
          </a:xfrm>
        </p:spPr>
      </p:pic>
    </p:spTree>
    <p:extLst>
      <p:ext uri="{BB962C8B-B14F-4D97-AF65-F5344CB8AC3E}">
        <p14:creationId xmlns:p14="http://schemas.microsoft.com/office/powerpoint/2010/main" val="110318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1A8CC-7433-DF77-6E38-DAFB1554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Child vs. Persons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E8401-1B40-11DF-88C2-8D230D919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2160" y="3427641"/>
            <a:ext cx="5021182" cy="65490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interaction between the group size and </a:t>
            </a:r>
            <a:r>
              <a:rPr lang="en-US"/>
              <a:t>number of children is not significant to our analysis. </a:t>
            </a:r>
            <a:endParaRPr lang="en-US" dirty="0"/>
          </a:p>
        </p:txBody>
      </p:sp>
      <p:pic>
        <p:nvPicPr>
          <p:cNvPr id="3" name="Content Placeholder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D072209-2889-0234-2AEA-E4C2642A86C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12568" y="2729503"/>
            <a:ext cx="6096000" cy="2043678"/>
          </a:xfrm>
        </p:spPr>
      </p:pic>
    </p:spTree>
    <p:extLst>
      <p:ext uri="{BB962C8B-B14F-4D97-AF65-F5344CB8AC3E}">
        <p14:creationId xmlns:p14="http://schemas.microsoft.com/office/powerpoint/2010/main" val="40505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6A9A6-721E-677D-6694-E0E3EA4D2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2: Zero-Inflated NegBin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67987-8C69-12DC-037B-20629BA0F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1876196"/>
            <a:ext cx="10792466" cy="696662"/>
          </a:xfrm>
        </p:spPr>
        <p:txBody>
          <a:bodyPr>
            <a:normAutofit/>
          </a:bodyPr>
          <a:lstStyle/>
          <a:p>
            <a:r>
              <a:rPr lang="en-US"/>
              <a:t>Pscl::zeroinfl( count ~ livebait + camper + persons + child | child, </a:t>
            </a:r>
            <a:r>
              <a:rPr lang="en-US" i="0" dirty="0">
                <a:ea typeface="+mn-lt"/>
                <a:cs typeface="+mn-lt"/>
              </a:rPr>
              <a:t>dist = "negbin"</a:t>
            </a:r>
            <a:r>
              <a:rPr lang="en-US" dirty="0"/>
              <a:t>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2C8F1-90D0-7071-1E39-F63AD9264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91812" y="2834332"/>
            <a:ext cx="5021182" cy="33228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zeroinfl() model in the "pscl" package in R takes formula as "y ~ x1 + x2 | z1 + z2" </a:t>
            </a:r>
            <a:r>
              <a:rPr lang="en-US"/>
              <a:t>where </a:t>
            </a:r>
          </a:p>
          <a:p>
            <a:r>
              <a:rPr lang="en-US"/>
              <a:t>"y ~ x1 + x2" is the count model and </a:t>
            </a:r>
          </a:p>
          <a:p>
            <a:r>
              <a:rPr lang="en-US"/>
              <a:t>"y ~ z1 + z2" is the zero-inflated model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pscl package</a:t>
            </a:r>
          </a:p>
          <a:p>
            <a:r>
              <a:rPr lang="en-US"/>
              <a:t>Theta = exp(-0.454) = 0.63, significant</a:t>
            </a:r>
            <a:endParaRPr lang="en-US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B2C0789E-047A-F8E5-7EC9-F55310B4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27" y="2832839"/>
            <a:ext cx="60960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66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C7F0-F35C-6347-F640-881B76F6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0633-89F4-2484-FC16-26FD64006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2: Zero-Inflated NegBin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D3C864-4043-CCCB-106C-3E37CBDADBB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zeroinfl() model in the "pscl" package in R takes formula as "y ~ x1 + x2 | z1 + z2" </a:t>
            </a:r>
            <a:r>
              <a:rPr lang="en-US"/>
              <a:t>where </a:t>
            </a:r>
          </a:p>
          <a:p>
            <a:r>
              <a:rPr lang="en-US"/>
              <a:t>"y ~ x1 + x2" is the count model and </a:t>
            </a:r>
          </a:p>
          <a:p>
            <a:r>
              <a:rPr lang="en-US"/>
              <a:t>"y ~ z1 + z2" is the zero-inflated model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pscl package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E65861D-2083-7341-BBF6-4B864059F44D}"/>
              </a:ext>
            </a:extLst>
          </p:cNvPr>
          <p:cNvSpPr txBox="1">
            <a:spLocks/>
          </p:cNvSpPr>
          <p:nvPr/>
        </p:nvSpPr>
        <p:spPr>
          <a:xfrm>
            <a:off x="517870" y="1876196"/>
            <a:ext cx="10792466" cy="6966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Pscl::zeroinfl( count ~ livebait + camper + persons + child | child, </a:t>
            </a:r>
            <a:r>
              <a:rPr lang="en-US" i="0" dirty="0">
                <a:ea typeface="+mn-lt"/>
                <a:cs typeface="+mn-lt"/>
              </a:rPr>
              <a:t>dist = "negbin"</a:t>
            </a:r>
            <a:r>
              <a:rPr lang="en-US" dirty="0"/>
              <a:t>)</a:t>
            </a:r>
          </a:p>
        </p:txBody>
      </p:sp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455AE83-BD64-7434-63FC-BF22DE02F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69" y="3566128"/>
            <a:ext cx="60960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99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BF63-374D-F6A4-5883-797732EC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ZINB Results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59144-85DC-A7B6-5654-F011883ED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481080"/>
            <a:ext cx="4515373" cy="3683200"/>
          </a:xfrm>
        </p:spPr>
        <p:txBody>
          <a:bodyPr>
            <a:normAutofit/>
          </a:bodyPr>
          <a:lstStyle/>
          <a:p>
            <a:r>
              <a:rPr lang="en-US" dirty="0"/>
              <a:t>Overall average of a group having really </a:t>
            </a:r>
            <a:r>
              <a:rPr lang="en-US"/>
              <a:t>fished (average posterior probabilities): </a:t>
            </a:r>
            <a:r>
              <a:rPr lang="en-US">
                <a:latin typeface="Bierstadt"/>
              </a:rPr>
              <a:t>0.76</a:t>
            </a:r>
          </a:p>
          <a:p>
            <a:endParaRPr lang="en-US" dirty="0"/>
          </a:p>
          <a:p>
            <a:r>
              <a:rPr lang="en-US"/>
              <a:t>This means that the model believes that most visitor groups (76%) actually fished.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A graph showing the number of fishing&#10;&#10;AI-generated content may be incorrect.">
            <a:extLst>
              <a:ext uri="{FF2B5EF4-FFF2-40B4-BE49-F238E27FC236}">
                <a16:creationId xmlns:a16="http://schemas.microsoft.com/office/drawing/2014/main" id="{53D58435-1559-3512-3CA6-C5731E4F9B9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821532" y="2046724"/>
            <a:ext cx="5005633" cy="4292713"/>
          </a:xfrm>
        </p:spPr>
      </p:pic>
    </p:spTree>
    <p:extLst>
      <p:ext uri="{BB962C8B-B14F-4D97-AF65-F5344CB8AC3E}">
        <p14:creationId xmlns:p14="http://schemas.microsoft.com/office/powerpoint/2010/main" val="2624663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517E-7219-5675-1F2F-9CBF4E32F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Comparison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725F72-A7C4-4072-D4F4-DD1EC5C1F1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67302" y="2546599"/>
            <a:ext cx="2767177" cy="1176831"/>
          </a:xfrm>
        </p:spPr>
      </p:pic>
      <p:pic>
        <p:nvPicPr>
          <p:cNvPr id="13" name="Picture 12" descr="A graph of a fish count&#10;&#10;AI-generated content may be incorrect.">
            <a:extLst>
              <a:ext uri="{FF2B5EF4-FFF2-40B4-BE49-F238E27FC236}">
                <a16:creationId xmlns:a16="http://schemas.microsoft.com/office/drawing/2014/main" id="{E5343C56-1CBE-CB6C-CF57-44D6D7948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32" y="2052227"/>
            <a:ext cx="5550603" cy="4114800"/>
          </a:xfrm>
          <a:prstGeom prst="rect">
            <a:avLst/>
          </a:prstGeom>
        </p:spPr>
      </p:pic>
      <p:pic>
        <p:nvPicPr>
          <p:cNvPr id="14" name="Picture 13" descr="A number with black text&#10;&#10;AI-generated content may be incorrect.">
            <a:extLst>
              <a:ext uri="{FF2B5EF4-FFF2-40B4-BE49-F238E27FC236}">
                <a16:creationId xmlns:a16="http://schemas.microsoft.com/office/drawing/2014/main" id="{C8D12A77-2EA4-4014-1BA7-2BECD5E33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26" y="4886079"/>
            <a:ext cx="3577459" cy="11521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871BF9-30A3-D861-DD1D-278934745F89}"/>
              </a:ext>
            </a:extLst>
          </p:cNvPr>
          <p:cNvSpPr txBox="1"/>
          <p:nvPr/>
        </p:nvSpPr>
        <p:spPr>
          <a:xfrm>
            <a:off x="763313" y="4416972"/>
            <a:ext cx="40083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70 – 30 training based Performance: </a:t>
            </a:r>
          </a:p>
        </p:txBody>
      </p:sp>
    </p:spTree>
    <p:extLst>
      <p:ext uri="{BB962C8B-B14F-4D97-AF65-F5344CB8AC3E}">
        <p14:creationId xmlns:p14="http://schemas.microsoft.com/office/powerpoint/2010/main" val="738598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3AB0C-38AD-9BFE-3CF1-58590C429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D9BE5-0ABD-E103-713C-23D4577546DA}"/>
              </a:ext>
            </a:extLst>
          </p:cNvPr>
          <p:cNvSpPr txBox="1"/>
          <p:nvPr/>
        </p:nvSpPr>
        <p:spPr>
          <a:xfrm>
            <a:off x="672661" y="2133600"/>
            <a:ext cx="399393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Negative Binomial did an adequate job at count prediction.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Most groups did indeed visit the park to fish – ZINB and NB models yielded similar results.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0C4385-47B2-4B71-2C44-CDCFD069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78" y="1561990"/>
            <a:ext cx="3875691" cy="1575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D2306E-7C52-333E-3D70-B45375539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57" y="4145576"/>
            <a:ext cx="3954518" cy="2120821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40023AC3-211C-86D7-2FAC-9D9C8AD09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state park must be a famous spot </a:t>
            </a:r>
            <a:r>
              <a:rPr lang="en-US"/>
              <a:t>for fishing! </a:t>
            </a:r>
          </a:p>
        </p:txBody>
      </p:sp>
    </p:spTree>
    <p:extLst>
      <p:ext uri="{BB962C8B-B14F-4D97-AF65-F5344CB8AC3E}">
        <p14:creationId xmlns:p14="http://schemas.microsoft.com/office/powerpoint/2010/main" val="508771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3C2F-0854-A853-518A-B01071F8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AA3-1FF6-2F71-EDF9-D8FD7E65C7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3CCED-43F5-A376-93C3-43C5145AB9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ZINB and NB results agree – don't bring </a:t>
            </a:r>
            <a:r>
              <a:rPr lang="en-US"/>
              <a:t>your kids to go fishing!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947D8-C69C-1DC9-A42C-8F1E4495BF90}"/>
              </a:ext>
            </a:extLst>
          </p:cNvPr>
          <p:cNvSpPr txBox="1"/>
          <p:nvPr/>
        </p:nvSpPr>
        <p:spPr>
          <a:xfrm>
            <a:off x="672661" y="2133600"/>
            <a:ext cx="399393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Negative Binomial did an adequate job at count prediction.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Most groups did indeed visit the park to fish – ZINB and NB models yielded similar results.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B25711-9622-7ED3-4A07-ADDD3990F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464" y="1107508"/>
            <a:ext cx="3875691" cy="15750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F4E2FF-08FC-47DC-3FFE-36FF8CA02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57" y="4145576"/>
            <a:ext cx="3954518" cy="2120821"/>
          </a:xfrm>
          <a:prstGeom prst="rect">
            <a:avLst/>
          </a:prstGeom>
        </p:spPr>
      </p:pic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726CD27A-BBF3-93EC-A301-BD4F3F1AE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941" y="3516766"/>
            <a:ext cx="3977797" cy="779485"/>
          </a:xfrm>
          <a:prstGeom prst="rect">
            <a:avLst/>
          </a:prstGeom>
          <a:ln w="12700">
            <a:solidFill>
              <a:srgbClr val="4472C4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4A1867-DEB6-64E0-0E01-5E2969CF9666}"/>
              </a:ext>
            </a:extLst>
          </p:cNvPr>
          <p:cNvCxnSpPr/>
          <p:nvPr/>
        </p:nvCxnSpPr>
        <p:spPr>
          <a:xfrm flipV="1">
            <a:off x="3342362" y="4200395"/>
            <a:ext cx="2795391" cy="1845500"/>
          </a:xfrm>
          <a:prstGeom prst="straightConnector1">
            <a:avLst/>
          </a:prstGeom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60160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GestaltVTI</vt:lpstr>
      <vt:lpstr>Fishing Data Consulting</vt:lpstr>
      <vt:lpstr>Introduction</vt:lpstr>
      <vt:lpstr>Challenges</vt:lpstr>
      <vt:lpstr>Challenges</vt:lpstr>
      <vt:lpstr>Challenges</vt:lpstr>
      <vt:lpstr>Model Formulation</vt:lpstr>
      <vt:lpstr>Model Formulation</vt:lpstr>
      <vt:lpstr>Model Formulation</vt:lpstr>
      <vt:lpstr>Model 1: Simple NegBin</vt:lpstr>
      <vt:lpstr>Child vs. Persons</vt:lpstr>
      <vt:lpstr>Model 2: Zero-Inflated NegBin</vt:lpstr>
      <vt:lpstr>Model 2: Zero-Inflated NegBin</vt:lpstr>
      <vt:lpstr>ZINB Results</vt:lpstr>
      <vt:lpstr>Performance Comparison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554</cp:revision>
  <dcterms:created xsi:type="dcterms:W3CDTF">2025-02-11T17:58:52Z</dcterms:created>
  <dcterms:modified xsi:type="dcterms:W3CDTF">2025-02-12T15:08:56Z</dcterms:modified>
</cp:coreProperties>
</file>